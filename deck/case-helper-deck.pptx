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828800"/>
            <a:ext cx="10728655" cy="1097280"/>
          </a:xfrm>
          <a:prstGeom prst="rect">
            <a:avLst/>
          </a:prstGeom>
          <a:noFill/>
        </p:spPr>
        <p:txBody>
          <a:bodyPr wrap="square">
            <a:spAutoFit/>
          </a:bodyPr>
          <a:lstStyle/>
          <a:p>
            <a:pPr algn="l">
              <a:spcAft>
                <a:spcPts val="600"/>
              </a:spcAft>
            </a:pPr>
            <a:r>
              <a:rPr sz="6000" b="1">
                <a:solidFill>
                  <a:srgbClr val="111111"/>
                </a:solidFill>
                <a:latin typeface="Calibri"/>
              </a:rPr>
              <a:t>Case Helper</a:t>
            </a:r>
          </a:p>
        </p:txBody>
      </p:sp>
      <p:sp>
        <p:nvSpPr>
          <p:cNvPr id="3" name="TextBox 2"/>
          <p:cNvSpPr txBox="1"/>
          <p:nvPr/>
        </p:nvSpPr>
        <p:spPr>
          <a:xfrm>
            <a:off x="731520" y="2926080"/>
            <a:ext cx="10728655" cy="914400"/>
          </a:xfrm>
          <a:prstGeom prst="rect">
            <a:avLst/>
          </a:prstGeom>
          <a:noFill/>
        </p:spPr>
        <p:txBody>
          <a:bodyPr wrap="square">
            <a:spAutoFit/>
          </a:bodyPr>
          <a:lstStyle/>
          <a:p>
            <a:pPr algn="l">
              <a:spcAft>
                <a:spcPts val="600"/>
              </a:spcAft>
            </a:pPr>
            <a:r>
              <a:rPr sz="3000" b="0">
                <a:solidFill>
                  <a:srgbClr val="555555"/>
                </a:solidFill>
                <a:latin typeface="Calibri"/>
              </a:rPr>
              <a:t>Build your Small Claims case from your evidence.</a:t>
            </a:r>
          </a:p>
        </p:txBody>
      </p:sp>
      <p:sp>
        <p:nvSpPr>
          <p:cNvPr id="4" name="TextBox 3"/>
          <p:cNvSpPr txBox="1"/>
          <p:nvPr/>
        </p:nvSpPr>
        <p:spPr>
          <a:xfrm>
            <a:off x="731520" y="4846320"/>
            <a:ext cx="10728655" cy="1371600"/>
          </a:xfrm>
          <a:prstGeom prst="rect">
            <a:avLst/>
          </a:prstGeom>
          <a:noFill/>
        </p:spPr>
        <p:txBody>
          <a:bodyPr wrap="square">
            <a:spAutoFit/>
          </a:bodyPr>
          <a:lstStyle/>
          <a:p>
            <a:pPr algn="l">
              <a:spcAft>
                <a:spcPts val="600"/>
              </a:spcAft>
            </a:pPr>
            <a:r>
              <a:rPr sz="1800" b="0">
                <a:solidFill>
                  <a:srgbClr val="555555"/>
                </a:solidFill>
                <a:latin typeface="Calibri"/>
              </a:rPr>
              <a:t>SMU LIT Legal-Tech Hackathon 2026. Problem statement 4, MinLaw: people at the Small Claims Tribunals with no lawyer.</a:t>
            </a:r>
          </a:p>
          <a:p>
            <a:pPr algn="l">
              <a:spcAft>
                <a:spcPts val="600"/>
              </a:spcAft>
            </a:pPr>
            <a:r>
              <a:rPr sz="1800" b="0">
                <a:solidFill>
                  <a:srgbClr val="555555"/>
                </a:solidFill>
                <a:latin typeface="Calibri"/>
              </a:rPr>
              <a:t>Team: [TEAM NAME]</a:t>
            </a:r>
          </a:p>
          <a:p>
            <a:pPr algn="l">
              <a:spcAft>
                <a:spcPts val="600"/>
              </a:spcAft>
            </a:pPr>
            <a:r>
              <a:rPr sz="1800" b="0">
                <a:solidFill>
                  <a:srgbClr val="555555"/>
                </a:solidFill>
                <a:latin typeface="Calibri"/>
              </a:rPr>
              <a:t>Live: case-helper-production.up.railway.app    Code: github.com/jemeryy/LIT-hackathon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lgn="l">
              <a:spcAft>
                <a:spcPts val="600"/>
              </a:spcAft>
            </a:pPr>
            <a:r>
              <a:rPr sz="3400" b="1">
                <a:solidFill>
                  <a:srgbClr val="111111"/>
                </a:solidFill>
                <a:latin typeface="Calibri"/>
              </a:rPr>
              <a:t>The problem</a:t>
            </a:r>
          </a:p>
        </p:txBody>
      </p:sp>
      <p:sp>
        <p:nvSpPr>
          <p:cNvPr id="3" name="Rectangle 2"/>
          <p:cNvSpPr/>
          <p:nvPr/>
        </p:nvSpPr>
        <p:spPr>
          <a:xfrm>
            <a:off x="548640" y="1097280"/>
            <a:ext cx="11094415"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4754880"/>
          </a:xfrm>
          <a:prstGeom prst="rect">
            <a:avLst/>
          </a:prstGeom>
          <a:noFill/>
        </p:spPr>
        <p:txBody>
          <a:bodyPr wrap="square">
            <a:spAutoFit/>
          </a:bodyPr>
          <a:lstStyle/>
          <a:p>
            <a:pPr algn="l">
              <a:spcAft>
                <a:spcPts val="1000"/>
              </a:spcAft>
            </a:pPr>
            <a:r>
              <a:rPr sz="2400" b="0">
                <a:solidFill>
                  <a:srgbClr val="111111"/>
                </a:solidFill>
                <a:latin typeface="Calibri"/>
              </a:rPr>
              <a:t>At the Small Claims Tribunals you cannot bring a lawyer. You prepare the case yourself.</a:t>
            </a:r>
          </a:p>
          <a:p>
            <a:pPr algn="l">
              <a:spcAft>
                <a:spcPts val="1000"/>
              </a:spcAft>
            </a:pPr>
            <a:r>
              <a:rPr sz="2400" b="0">
                <a:solidFill>
                  <a:srgbClr val="111111"/>
                </a:solidFill>
                <a:latin typeface="Calibri"/>
              </a:rPr>
              <a:t>So people ask ChatGPT. It agrees with them, makes up cases, and does not know the court's steps.</a:t>
            </a:r>
          </a:p>
          <a:p>
            <a:pPr algn="l">
              <a:spcAft>
                <a:spcPts val="1000"/>
              </a:spcAft>
            </a:pPr>
            <a:r>
              <a:rPr sz="2400" b="0">
                <a:solidFill>
                  <a:srgbClr val="111111"/>
                </a:solidFill>
                <a:latin typeface="Calibri"/>
              </a:rPr>
              <a:t>They turn up with a story and no proof, or the wrong proof, and lose on the facts.</a:t>
            </a:r>
          </a:p>
          <a:p>
            <a:pPr algn="l">
              <a:spcAft>
                <a:spcPts val="1000"/>
              </a:spcAft>
            </a:pPr>
            <a:r>
              <a:rPr sz="2400" b="0">
                <a:solidFill>
                  <a:srgbClr val="111111"/>
                </a:solidFill>
                <a:latin typeface="Calibri"/>
              </a:rPr>
              <a:t>The Courts' guide on generative AI says the person is responsible for what they file. Nothing helps them meet that duty.</a:t>
            </a:r>
          </a:p>
          <a:p>
            <a:pPr algn="l">
              <a:spcAft>
                <a:spcPts val="1000"/>
              </a:spcAft>
            </a:pPr>
            <a:r>
              <a:rPr sz="2400" b="1">
                <a:solidFill>
                  <a:srgbClr val="15803D"/>
                </a:solidFill>
                <a:latin typeface="Calibri"/>
              </a:rPr>
              <a:t>What they need is not legal advice. It is a way to sort their own evidence and see what the other side will say.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lgn="l">
              <a:spcAft>
                <a:spcPts val="600"/>
              </a:spcAft>
            </a:pPr>
            <a:r>
              <a:rPr sz="3400" b="1">
                <a:solidFill>
                  <a:srgbClr val="111111"/>
                </a:solidFill>
                <a:latin typeface="Calibri"/>
              </a:rPr>
              <a:t>What we built: five steps, one page</a:t>
            </a:r>
          </a:p>
        </p:txBody>
      </p:sp>
      <p:sp>
        <p:nvSpPr>
          <p:cNvPr id="3" name="Rectangle 2"/>
          <p:cNvSpPr/>
          <p:nvPr/>
        </p:nvSpPr>
        <p:spPr>
          <a:xfrm>
            <a:off x="548640" y="1097280"/>
            <a:ext cx="11094415"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4053535" cy="4754880"/>
          </a:xfrm>
          <a:prstGeom prst="rect">
            <a:avLst/>
          </a:prstGeom>
          <a:noFill/>
        </p:spPr>
        <p:txBody>
          <a:bodyPr wrap="square">
            <a:spAutoFit/>
          </a:bodyPr>
          <a:lstStyle/>
          <a:p>
            <a:pPr algn="l">
              <a:spcAft>
                <a:spcPts val="1000"/>
              </a:spcAft>
            </a:pPr>
            <a:r>
              <a:rPr sz="1700" b="0">
                <a:solidFill>
                  <a:srgbClr val="111111"/>
                </a:solidFill>
                <a:latin typeface="Calibri"/>
              </a:rPr>
              <a:t>1. Tell us what happened. A chat in your own words. The model pulls out the facts and asks for what is missing.</a:t>
            </a:r>
          </a:p>
          <a:p>
            <a:pPr algn="l">
              <a:spcAft>
                <a:spcPts val="1000"/>
              </a:spcAft>
            </a:pPr>
            <a:r>
              <a:rPr sz="1700" b="0">
                <a:solidFill>
                  <a:srgbClr val="111111"/>
                </a:solidFill>
                <a:latin typeface="Calibri"/>
              </a:rPr>
              <a:t>2. Can the tribunal hear it? Four rule checks, each quoting the section of the Act.</a:t>
            </a:r>
          </a:p>
          <a:p>
            <a:pPr algn="l">
              <a:spcAft>
                <a:spcPts val="1000"/>
              </a:spcAft>
            </a:pPr>
            <a:r>
              <a:rPr sz="1700" b="0">
                <a:solidFill>
                  <a:srgbClr val="111111"/>
                </a:solidFill>
                <a:latin typeface="Calibri"/>
              </a:rPr>
              <a:t>3. Your evidence. Add files, see what else to gather, answer what the other side may have, then rank both sides.</a:t>
            </a:r>
          </a:p>
          <a:p>
            <a:pPr algn="l">
              <a:spcAft>
                <a:spcPts val="1000"/>
              </a:spcAft>
            </a:pPr>
            <a:r>
              <a:rPr sz="1700" b="0">
                <a:solidFill>
                  <a:srgbClr val="111111"/>
                </a:solidFill>
                <a:latin typeface="Calibri"/>
              </a:rPr>
              <a:t>4. Your timeline. Past events from your files, then the court's steps ahead and the time bar date.</a:t>
            </a:r>
          </a:p>
          <a:p>
            <a:pPr algn="l">
              <a:spcAft>
                <a:spcPts val="1000"/>
              </a:spcAft>
            </a:pPr>
            <a:r>
              <a:rPr sz="1700" b="0">
                <a:solidFill>
                  <a:srgbClr val="111111"/>
                </a:solidFill>
                <a:latin typeface="Calibri"/>
              </a:rPr>
              <a:t>5. What to do next. In the court's own order, with a claim pack ready to paste into the filing portal.</a:t>
            </a:r>
          </a:p>
        </p:txBody>
      </p:sp>
      <p:pic>
        <p:nvPicPr>
          <p:cNvPr id="5" name="Picture 4" descr="deck-1-chat.png"/>
          <p:cNvPicPr>
            <a:picLocks noChangeAspect="1"/>
          </p:cNvPicPr>
          <p:nvPr/>
        </p:nvPicPr>
        <p:blipFill>
          <a:blip r:embed="rId2"/>
          <a:stretch>
            <a:fillRect/>
          </a:stretch>
        </p:blipFill>
        <p:spPr>
          <a:xfrm>
            <a:off x="4876495" y="1371600"/>
            <a:ext cx="6766560" cy="4229100"/>
          </a:xfrm>
          <a:prstGeom prst="rect">
            <a:avLst/>
          </a:prstGeom>
          <a:ln w="19050">
            <a:solidFill>
              <a:srgbClr val="111111"/>
            </a:solidFill>
          </a:ln>
        </p:spPr>
      </p:pic>
      <p:sp>
        <p:nvSpPr>
          <p:cNvPr id="6" name="TextBox 5"/>
          <p:cNvSpPr txBox="1"/>
          <p:nvPr/>
        </p:nvSpPr>
        <p:spPr>
          <a:xfrm>
            <a:off x="548640" y="6172200"/>
            <a:ext cx="11094415" cy="457200"/>
          </a:xfrm>
          <a:prstGeom prst="rect">
            <a:avLst/>
          </a:prstGeom>
          <a:noFill/>
        </p:spPr>
        <p:txBody>
          <a:bodyPr wrap="square">
            <a:spAutoFit/>
          </a:bodyPr>
          <a:lstStyle/>
          <a:p>
            <a:pPr algn="l">
              <a:spcAft>
                <a:spcPts val="600"/>
              </a:spcAft>
            </a:pPr>
            <a:r>
              <a:rPr sz="1400" b="0">
                <a:solidFill>
                  <a:srgbClr val="555555"/>
                </a:solidFill>
                <a:latin typeface="Calibri"/>
              </a:rPr>
              <a:t>Works for a real case today: tenancy deposit, goods, services, damage to property. Not only the demo.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lgn="l">
              <a:spcAft>
                <a:spcPts val="600"/>
              </a:spcAft>
            </a:pPr>
            <a:r>
              <a:rPr sz="3400" b="1">
                <a:solidFill>
                  <a:srgbClr val="111111"/>
                </a:solidFill>
                <a:latin typeface="Calibri"/>
              </a:rPr>
              <a:t>Step 2: rules, not a model</a:t>
            </a:r>
          </a:p>
        </p:txBody>
      </p:sp>
      <p:sp>
        <p:nvSpPr>
          <p:cNvPr id="3" name="Rectangle 2"/>
          <p:cNvSpPr/>
          <p:nvPr/>
        </p:nvSpPr>
        <p:spPr>
          <a:xfrm>
            <a:off x="548640" y="1097280"/>
            <a:ext cx="11094415"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4053535" cy="4754880"/>
          </a:xfrm>
          <a:prstGeom prst="rect">
            <a:avLst/>
          </a:prstGeom>
          <a:noFill/>
        </p:spPr>
        <p:txBody>
          <a:bodyPr wrap="square">
            <a:spAutoFit/>
          </a:bodyPr>
          <a:lstStyle/>
          <a:p>
            <a:pPr algn="l">
              <a:spcAft>
                <a:spcPts val="1000"/>
              </a:spcAft>
            </a:pPr>
            <a:r>
              <a:rPr sz="2000" b="0">
                <a:solidFill>
                  <a:srgbClr val="111111"/>
                </a:solidFill>
                <a:latin typeface="Calibri"/>
              </a:rPr>
              <a:t>Type of claim, amount, time bar, other side in Singapore.</a:t>
            </a:r>
          </a:p>
          <a:p>
            <a:pPr algn="l">
              <a:spcAft>
                <a:spcPts val="1000"/>
              </a:spcAft>
            </a:pPr>
            <a:r>
              <a:rPr sz="2000" b="0">
                <a:solidFill>
                  <a:srgbClr val="111111"/>
                </a:solidFill>
                <a:latin typeface="Calibri"/>
              </a:rPr>
              <a:t>Each check quotes the section from Singapore Statutes Online, with the date we fetched it.</a:t>
            </a:r>
          </a:p>
          <a:p>
            <a:pPr algn="l">
              <a:spcAft>
                <a:spcPts val="1000"/>
              </a:spcAft>
            </a:pPr>
            <a:r>
              <a:rPr sz="2000" b="0">
                <a:solidFill>
                  <a:srgbClr val="111111"/>
                </a:solidFill>
                <a:latin typeface="Calibri"/>
              </a:rPr>
              <a:t>Same answer every time. Fail a check and it stops and points to the right place.</a:t>
            </a:r>
          </a:p>
          <a:p>
            <a:pPr algn="l">
              <a:spcAft>
                <a:spcPts val="1000"/>
              </a:spcAft>
            </a:pPr>
            <a:r>
              <a:rPr sz="2000" b="0">
                <a:solidFill>
                  <a:srgbClr val="111111"/>
                </a:solidFill>
                <a:latin typeface="Calibri"/>
              </a:rPr>
              <a:t>Work claims, loans and neighbour noise are turned away here, before any file is read.</a:t>
            </a:r>
          </a:p>
        </p:txBody>
      </p:sp>
      <p:pic>
        <p:nvPicPr>
          <p:cNvPr id="5" name="Picture 4" descr="deck-2-gate.png"/>
          <p:cNvPicPr>
            <a:picLocks noChangeAspect="1"/>
          </p:cNvPicPr>
          <p:nvPr/>
        </p:nvPicPr>
        <p:blipFill>
          <a:blip r:embed="rId2"/>
          <a:stretch>
            <a:fillRect/>
          </a:stretch>
        </p:blipFill>
        <p:spPr>
          <a:xfrm>
            <a:off x="4876495" y="1371600"/>
            <a:ext cx="6766560" cy="4229100"/>
          </a:xfrm>
          <a:prstGeom prst="rect">
            <a:avLst/>
          </a:prstGeom>
          <a:ln w="19050">
            <a:solidFill>
              <a:srgbClr val="111111"/>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lgn="l">
              <a:spcAft>
                <a:spcPts val="600"/>
              </a:spcAft>
            </a:pPr>
            <a:r>
              <a:rPr sz="3400" b="1">
                <a:solidFill>
                  <a:srgbClr val="111111"/>
                </a:solidFill>
                <a:latin typeface="Calibri"/>
              </a:rPr>
              <a:t>Step 3: your evidence, ranked from the files</a:t>
            </a:r>
          </a:p>
        </p:txBody>
      </p:sp>
      <p:sp>
        <p:nvSpPr>
          <p:cNvPr id="3" name="Rectangle 2"/>
          <p:cNvSpPr/>
          <p:nvPr/>
        </p:nvSpPr>
        <p:spPr>
          <a:xfrm>
            <a:off x="548640" y="1097280"/>
            <a:ext cx="11094415"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4053535" cy="4754880"/>
          </a:xfrm>
          <a:prstGeom prst="rect">
            <a:avLst/>
          </a:prstGeom>
          <a:noFill/>
        </p:spPr>
        <p:txBody>
          <a:bodyPr wrap="square">
            <a:spAutoFit/>
          </a:bodyPr>
          <a:lstStyle/>
          <a:p>
            <a:pPr algn="l">
              <a:spcAft>
                <a:spcPts val="1000"/>
              </a:spcAft>
            </a:pPr>
            <a:r>
              <a:rPr sz="1900" b="0">
                <a:solidFill>
                  <a:srgbClr val="111111"/>
                </a:solidFill>
                <a:latin typeface="Calibri"/>
              </a:rPr>
              <a:t>Every fact carries an exact quote. We match the quote back into the file. No match, the fact is dropped.</a:t>
            </a:r>
          </a:p>
          <a:p>
            <a:pPr algn="l">
              <a:spcAft>
                <a:spcPts val="1000"/>
              </a:spcAft>
            </a:pPr>
            <a:r>
              <a:rPr sz="1900" b="0">
                <a:solidFill>
                  <a:srgbClr val="111111"/>
                </a:solidFill>
                <a:latin typeface="Calibri"/>
              </a:rPr>
              <a:t>Press a row and the file opens at that page, with the line highlighted.</a:t>
            </a:r>
          </a:p>
          <a:p>
            <a:pPr algn="l">
              <a:spcAft>
                <a:spcPts val="1000"/>
              </a:spcAft>
            </a:pPr>
            <a:r>
              <a:rPr sz="1900" b="0">
                <a:solidFill>
                  <a:srgbClr val="111111"/>
                </a:solidFill>
                <a:latin typeface="Calibri"/>
              </a:rPr>
              <a:t>A file whose names, dates or amounts do not fit your account is marked weak and kept out of the story.</a:t>
            </a:r>
          </a:p>
          <a:p>
            <a:pPr algn="l">
              <a:spcAft>
                <a:spcPts val="1000"/>
              </a:spcAft>
            </a:pPr>
            <a:r>
              <a:rPr sz="1900" b="0">
                <a:solidFill>
                  <a:srgbClr val="111111"/>
                </a:solidFill>
                <a:latin typeface="Calibri"/>
              </a:rPr>
              <a:t>What else to gather: five headings for your kind of claim, what you have and what is still missing.</a:t>
            </a:r>
          </a:p>
        </p:txBody>
      </p:sp>
      <p:pic>
        <p:nvPicPr>
          <p:cNvPr id="5" name="Picture 4" descr="deck-3-evidence.png"/>
          <p:cNvPicPr>
            <a:picLocks noChangeAspect="1"/>
          </p:cNvPicPr>
          <p:nvPr/>
        </p:nvPicPr>
        <p:blipFill>
          <a:blip r:embed="rId2"/>
          <a:stretch>
            <a:fillRect/>
          </a:stretch>
        </p:blipFill>
        <p:spPr>
          <a:xfrm>
            <a:off x="5298782" y="1371600"/>
            <a:ext cx="6344273" cy="4846320"/>
          </a:xfrm>
          <a:prstGeom prst="rect">
            <a:avLst/>
          </a:prstGeom>
          <a:ln w="19050">
            <a:solidFill>
              <a:srgbClr val="111111"/>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lgn="l">
              <a:spcAft>
                <a:spcPts val="600"/>
              </a:spcAft>
            </a:pPr>
            <a:r>
              <a:rPr sz="3400" b="1">
                <a:solidFill>
                  <a:srgbClr val="111111"/>
                </a:solidFill>
                <a:latin typeface="Calibri"/>
              </a:rPr>
              <a:t>The other side's evidence: the confirmation bias fix</a:t>
            </a:r>
          </a:p>
        </p:txBody>
      </p:sp>
      <p:sp>
        <p:nvSpPr>
          <p:cNvPr id="3" name="Rectangle 2"/>
          <p:cNvSpPr/>
          <p:nvPr/>
        </p:nvSpPr>
        <p:spPr>
          <a:xfrm>
            <a:off x="548640" y="1097280"/>
            <a:ext cx="11094415"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4053535" cy="4754880"/>
          </a:xfrm>
          <a:prstGeom prst="rect">
            <a:avLst/>
          </a:prstGeom>
          <a:noFill/>
        </p:spPr>
        <p:txBody>
          <a:bodyPr wrap="square">
            <a:spAutoFit/>
          </a:bodyPr>
          <a:lstStyle/>
          <a:p>
            <a:pPr algn="l">
              <a:spcAft>
                <a:spcPts val="1000"/>
              </a:spcAft>
            </a:pPr>
            <a:r>
              <a:rPr sz="2000" b="0">
                <a:solidFill>
                  <a:srgbClr val="111111"/>
                </a:solidFill>
                <a:latin typeface="Calibri"/>
              </a:rPr>
              <a:t>Seven yes / no / not sure questions about what the other side could bring.</a:t>
            </a:r>
          </a:p>
          <a:p>
            <a:pPr algn="l">
              <a:spcAft>
                <a:spcPts val="1000"/>
              </a:spcAft>
            </a:pPr>
            <a:r>
              <a:rPr sz="2000" b="0">
                <a:solidFill>
                  <a:srgbClr val="111111"/>
                </a:solidFill>
                <a:latin typeface="Calibri"/>
              </a:rPr>
              <a:t>Their list, ranked for them, with why it is strong and how to answer it from your own files.</a:t>
            </a:r>
          </a:p>
          <a:p>
            <a:pPr algn="l">
              <a:spcAft>
                <a:spcPts val="1000"/>
              </a:spcAft>
            </a:pPr>
            <a:r>
              <a:rPr sz="2000" b="0">
                <a:solidFill>
                  <a:srgbClr val="111111"/>
                </a:solidFill>
                <a:latin typeface="Calibri"/>
              </a:rPr>
              <a:t>We never argue their case. We list what they could show so the person is not surprised at the first hearing.</a:t>
            </a:r>
          </a:p>
          <a:p>
            <a:pPr algn="l">
              <a:spcAft>
                <a:spcPts val="1000"/>
              </a:spcAft>
            </a:pPr>
            <a:r>
              <a:rPr sz="2000" b="0">
                <a:solidFill>
                  <a:srgbClr val="111111"/>
                </a:solidFill>
                <a:latin typeface="Calibri"/>
              </a:rPr>
              <a:t>A file you have of theirs goes in their column, never in yours.</a:t>
            </a:r>
          </a:p>
        </p:txBody>
      </p:sp>
      <p:pic>
        <p:nvPicPr>
          <p:cNvPr id="5" name="Picture 4" descr="deck-3b-ranked.png"/>
          <p:cNvPicPr>
            <a:picLocks noChangeAspect="1"/>
          </p:cNvPicPr>
          <p:nvPr/>
        </p:nvPicPr>
        <p:blipFill>
          <a:blip r:embed="rId2"/>
          <a:stretch>
            <a:fillRect/>
          </a:stretch>
        </p:blipFill>
        <p:spPr>
          <a:xfrm>
            <a:off x="5827471" y="1371600"/>
            <a:ext cx="5815584" cy="4846320"/>
          </a:xfrm>
          <a:prstGeom prst="rect">
            <a:avLst/>
          </a:prstGeom>
          <a:ln w="19050">
            <a:solidFill>
              <a:srgbClr val="111111"/>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lgn="l">
              <a:spcAft>
                <a:spcPts val="600"/>
              </a:spcAft>
            </a:pPr>
            <a:r>
              <a:rPr sz="3400" b="1">
                <a:solidFill>
                  <a:srgbClr val="111111"/>
                </a:solidFill>
                <a:latin typeface="Calibri"/>
              </a:rPr>
              <a:t>Steps 4 and 5: the road ahead</a:t>
            </a:r>
          </a:p>
        </p:txBody>
      </p:sp>
      <p:sp>
        <p:nvSpPr>
          <p:cNvPr id="3" name="Rectangle 2"/>
          <p:cNvSpPr/>
          <p:nvPr/>
        </p:nvSpPr>
        <p:spPr>
          <a:xfrm>
            <a:off x="548640" y="1097280"/>
            <a:ext cx="11094415"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ck-4-timeline.png"/>
          <p:cNvPicPr>
            <a:picLocks noChangeAspect="1"/>
          </p:cNvPicPr>
          <p:nvPr/>
        </p:nvPicPr>
        <p:blipFill>
          <a:blip r:embed="rId2"/>
          <a:stretch>
            <a:fillRect/>
          </a:stretch>
        </p:blipFill>
        <p:spPr>
          <a:xfrm>
            <a:off x="548640" y="1371600"/>
            <a:ext cx="5486400" cy="3429000"/>
          </a:xfrm>
          <a:prstGeom prst="rect">
            <a:avLst/>
          </a:prstGeom>
        </p:spPr>
      </p:pic>
      <p:pic>
        <p:nvPicPr>
          <p:cNvPr id="5" name="Picture 4" descr="deck-5-next.png"/>
          <p:cNvPicPr>
            <a:picLocks noChangeAspect="1"/>
          </p:cNvPicPr>
          <p:nvPr/>
        </p:nvPicPr>
        <p:blipFill>
          <a:blip r:embed="rId3"/>
          <a:stretch>
            <a:fillRect/>
          </a:stretch>
        </p:blipFill>
        <p:spPr>
          <a:xfrm>
            <a:off x="6172200" y="1371600"/>
            <a:ext cx="5486400" cy="3429000"/>
          </a:xfrm>
          <a:prstGeom prst="rect">
            <a:avLst/>
          </a:prstGeom>
        </p:spPr>
      </p:pic>
      <p:sp>
        <p:nvSpPr>
          <p:cNvPr id="6" name="TextBox 5"/>
          <p:cNvSpPr txBox="1"/>
          <p:nvPr/>
        </p:nvSpPr>
        <p:spPr>
          <a:xfrm>
            <a:off x="548640" y="4937760"/>
            <a:ext cx="11094415" cy="1371600"/>
          </a:xfrm>
          <a:prstGeom prst="rect">
            <a:avLst/>
          </a:prstGeom>
          <a:noFill/>
        </p:spPr>
        <p:txBody>
          <a:bodyPr wrap="square">
            <a:spAutoFit/>
          </a:bodyPr>
          <a:lstStyle/>
          <a:p>
            <a:pPr algn="l">
              <a:spcAft>
                <a:spcPts val="600"/>
              </a:spcAft>
            </a:pPr>
            <a:r>
              <a:rPr sz="1600" b="0">
                <a:solidFill>
                  <a:srgbClr val="111111"/>
                </a:solidFill>
                <a:latin typeface="Calibri"/>
              </a:rPr>
              <a:t>Timeline: events from the files, today, then the court's steps and the 2 year time bar. Maps onto the court's Submission for Hearing form.</a:t>
            </a:r>
          </a:p>
          <a:p>
            <a:pPr algn="l">
              <a:spcAft>
                <a:spcPts val="600"/>
              </a:spcAft>
            </a:pPr>
            <a:r>
              <a:rPr sz="1600" b="0">
                <a:solidFill>
                  <a:srgbClr val="111111"/>
                </a:solidFill>
                <a:latin typeface="Calibri"/>
              </a:rPr>
              <a:t>Next steps in the court's order: written request, pre-filing assessment, the six part claim form with a 500 character summary, $10 fee, serve within 7 working days.</a:t>
            </a:r>
          </a:p>
          <a:p>
            <a:pPr algn="l">
              <a:spcAft>
                <a:spcPts val="600"/>
              </a:spcAft>
            </a:pPr>
            <a:r>
              <a:rPr sz="1600" b="0">
                <a:solidFill>
                  <a:srgbClr val="111111"/>
                </a:solidFill>
                <a:latin typeface="Calibri"/>
              </a:rPr>
              <a:t>Downloads: an evidence sheet (xlsx), a written request, and a claim pack with the form text and every file as a PDF under 5 MB.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lgn="l">
              <a:spcAft>
                <a:spcPts val="600"/>
              </a:spcAft>
            </a:pPr>
            <a:r>
              <a:rPr sz="3400" b="1">
                <a:solidFill>
                  <a:srgbClr val="111111"/>
                </a:solidFill>
                <a:latin typeface="Calibri"/>
              </a:rPr>
              <a:t>Where the model stops and the rules start</a:t>
            </a:r>
          </a:p>
        </p:txBody>
      </p:sp>
      <p:sp>
        <p:nvSpPr>
          <p:cNvPr id="3" name="Rectangle 2"/>
          <p:cNvSpPr/>
          <p:nvPr/>
        </p:nvSpPr>
        <p:spPr>
          <a:xfrm>
            <a:off x="548640" y="1097280"/>
            <a:ext cx="11094415"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3657600" cy="4572000"/>
          </a:xfrm>
          <a:prstGeom prst="rect">
            <a:avLst/>
          </a:prstGeom>
          <a:noFill/>
        </p:spPr>
        <p:txBody>
          <a:bodyPr wrap="square">
            <a:spAutoFit/>
          </a:bodyPr>
          <a:lstStyle/>
          <a:p>
            <a:pPr algn="l">
              <a:spcAft>
                <a:spcPts val="600"/>
              </a:spcAft>
            </a:pPr>
            <a:r>
              <a:rPr sz="1900" b="1">
                <a:solidFill>
                  <a:srgbClr val="15803D"/>
                </a:solidFill>
                <a:latin typeface="Calibri"/>
              </a:rPr>
              <a:t>The model does</a:t>
            </a:r>
          </a:p>
          <a:p>
            <a:pPr algn="l">
              <a:spcAft>
                <a:spcPts val="600"/>
              </a:spcAft>
            </a:pPr>
            <a:r>
              <a:rPr sz="1900" b="0">
                <a:solidFill>
                  <a:srgbClr val="111111"/>
                </a:solidFill>
                <a:latin typeface="Calibri"/>
              </a:rPr>
              <a:t>Reads what you type and fills the form</a:t>
            </a:r>
          </a:p>
          <a:p>
            <a:pPr algn="l">
              <a:spcAft>
                <a:spcPts val="600"/>
              </a:spcAft>
            </a:pPr>
            <a:r>
              <a:rPr sz="1900" b="0">
                <a:solidFill>
                  <a:srgbClr val="111111"/>
                </a:solidFill>
                <a:latin typeface="Calibri"/>
              </a:rPr>
              <a:t>Reads each file and returns facts with exact quotes</a:t>
            </a:r>
          </a:p>
          <a:p>
            <a:pPr algn="l">
              <a:spcAft>
                <a:spcPts val="600"/>
              </a:spcAft>
            </a:pPr>
            <a:r>
              <a:rPr sz="1900" b="0">
                <a:solidFill>
                  <a:srgbClr val="111111"/>
                </a:solidFill>
                <a:latin typeface="Calibri"/>
              </a:rPr>
              <a:t>Writes the story, the 500 character summary and the request letter</a:t>
            </a:r>
          </a:p>
        </p:txBody>
      </p:sp>
      <p:sp>
        <p:nvSpPr>
          <p:cNvPr id="5" name="TextBox 4"/>
          <p:cNvSpPr txBox="1"/>
          <p:nvPr/>
        </p:nvSpPr>
        <p:spPr>
          <a:xfrm>
            <a:off x="4389120" y="1371600"/>
            <a:ext cx="3657600" cy="4572000"/>
          </a:xfrm>
          <a:prstGeom prst="rect">
            <a:avLst/>
          </a:prstGeom>
          <a:noFill/>
        </p:spPr>
        <p:txBody>
          <a:bodyPr wrap="square">
            <a:spAutoFit/>
          </a:bodyPr>
          <a:lstStyle/>
          <a:p>
            <a:pPr algn="l">
              <a:spcAft>
                <a:spcPts val="600"/>
              </a:spcAft>
            </a:pPr>
            <a:r>
              <a:rPr sz="1900" b="1">
                <a:solidFill>
                  <a:srgbClr val="111111"/>
                </a:solidFill>
                <a:latin typeface="Calibri"/>
              </a:rPr>
              <a:t>Rules do</a:t>
            </a:r>
          </a:p>
          <a:p>
            <a:pPr algn="l">
              <a:spcAft>
                <a:spcPts val="600"/>
              </a:spcAft>
            </a:pPr>
            <a:r>
              <a:rPr sz="1900" b="0">
                <a:solidFill>
                  <a:srgbClr val="111111"/>
                </a:solidFill>
                <a:latin typeface="Calibri"/>
              </a:rPr>
              <a:t>The four gate checks</a:t>
            </a:r>
          </a:p>
          <a:p>
            <a:pPr algn="l">
              <a:spcAft>
                <a:spcPts val="600"/>
              </a:spcAft>
            </a:pPr>
            <a:r>
              <a:rPr sz="1900" b="0">
                <a:solidFill>
                  <a:srgbClr val="111111"/>
                </a:solidFill>
                <a:latin typeface="Calibri"/>
              </a:rPr>
              <a:t>Strength and rank of every fact</a:t>
            </a:r>
          </a:p>
          <a:p>
            <a:pPr algn="l">
              <a:spcAft>
                <a:spcPts val="600"/>
              </a:spcAft>
            </a:pPr>
            <a:r>
              <a:rPr sz="1900" b="0">
                <a:solidFill>
                  <a:srgbClr val="111111"/>
                </a:solidFill>
                <a:latin typeface="Calibri"/>
              </a:rPr>
              <a:t>What else to gather, the other side's list</a:t>
            </a:r>
          </a:p>
          <a:p>
            <a:pPr algn="l">
              <a:spcAft>
                <a:spcPts val="600"/>
              </a:spcAft>
            </a:pPr>
            <a:r>
              <a:rPr sz="1900" b="0">
                <a:solidFill>
                  <a:srgbClr val="111111"/>
                </a:solidFill>
                <a:latin typeface="Calibri"/>
              </a:rPr>
              <a:t>Timeline, fee, next steps</a:t>
            </a:r>
          </a:p>
        </p:txBody>
      </p:sp>
      <p:sp>
        <p:nvSpPr>
          <p:cNvPr id="6" name="TextBox 5"/>
          <p:cNvSpPr txBox="1"/>
          <p:nvPr/>
        </p:nvSpPr>
        <p:spPr>
          <a:xfrm>
            <a:off x="8229600" y="1371600"/>
            <a:ext cx="3474720" cy="4572000"/>
          </a:xfrm>
          <a:prstGeom prst="rect">
            <a:avLst/>
          </a:prstGeom>
          <a:noFill/>
        </p:spPr>
        <p:txBody>
          <a:bodyPr wrap="square">
            <a:spAutoFit/>
          </a:bodyPr>
          <a:lstStyle/>
          <a:p>
            <a:pPr algn="l">
              <a:spcAft>
                <a:spcPts val="600"/>
              </a:spcAft>
            </a:pPr>
            <a:r>
              <a:rPr sz="1900" b="1">
                <a:solidFill>
                  <a:srgbClr val="B91C1C"/>
                </a:solidFill>
                <a:latin typeface="Calibri"/>
              </a:rPr>
              <a:t>Nobody does</a:t>
            </a:r>
          </a:p>
          <a:p>
            <a:pPr algn="l">
              <a:spcAft>
                <a:spcPts val="600"/>
              </a:spcAft>
            </a:pPr>
            <a:r>
              <a:rPr sz="1900" b="0">
                <a:solidFill>
                  <a:srgbClr val="111111"/>
                </a:solidFill>
                <a:latin typeface="Calibri"/>
              </a:rPr>
              <a:t>No case names, ever</a:t>
            </a:r>
          </a:p>
          <a:p>
            <a:pPr algn="l">
              <a:spcAft>
                <a:spcPts val="600"/>
              </a:spcAft>
            </a:pPr>
            <a:r>
              <a:rPr sz="1900" b="0">
                <a:solidFill>
                  <a:srgbClr val="111111"/>
                </a:solidFill>
                <a:latin typeface="Calibri"/>
              </a:rPr>
              <a:t>No guess at who wins</a:t>
            </a:r>
          </a:p>
          <a:p>
            <a:pPr algn="l">
              <a:spcAft>
                <a:spcPts val="600"/>
              </a:spcAft>
            </a:pPr>
            <a:r>
              <a:rPr sz="1900" b="0">
                <a:solidFill>
                  <a:srgbClr val="111111"/>
                </a:solidFill>
                <a:latin typeface="Calibri"/>
              </a:rPr>
              <a:t>No legal advice</a:t>
            </a:r>
          </a:p>
          <a:p>
            <a:pPr algn="l">
              <a:spcAft>
                <a:spcPts val="600"/>
              </a:spcAft>
            </a:pPr>
            <a:r>
              <a:rPr sz="1900" b="0">
                <a:solidFill>
                  <a:srgbClr val="111111"/>
                </a:solidFill>
                <a:latin typeface="Calibri"/>
              </a:rPr>
              <a:t>No invented evidence</a:t>
            </a:r>
          </a:p>
          <a:p>
            <a:pPr algn="l">
              <a:spcAft>
                <a:spcPts val="600"/>
              </a:spcAft>
            </a:pPr>
            <a:r>
              <a:rPr sz="1900" b="0">
                <a:solidFill>
                  <a:srgbClr val="111111"/>
                </a:solidFill>
                <a:latin typeface="Calibri"/>
              </a:rPr>
              <a:t>No file leaves your case</a:t>
            </a:r>
          </a:p>
        </p:txBody>
      </p:sp>
      <p:sp>
        <p:nvSpPr>
          <p:cNvPr id="7" name="TextBox 6"/>
          <p:cNvSpPr txBox="1"/>
          <p:nvPr/>
        </p:nvSpPr>
        <p:spPr>
          <a:xfrm>
            <a:off x="548640" y="5120640"/>
            <a:ext cx="11094415" cy="1097280"/>
          </a:xfrm>
          <a:prstGeom prst="rect">
            <a:avLst/>
          </a:prstGeom>
          <a:noFill/>
        </p:spPr>
        <p:txBody>
          <a:bodyPr wrap="square">
            <a:spAutoFit/>
          </a:bodyPr>
          <a:lstStyle/>
          <a:p>
            <a:pPr algn="l">
              <a:spcAft>
                <a:spcPts val="600"/>
              </a:spcAft>
            </a:pPr>
            <a:r>
              <a:rPr sz="1500" b="0">
                <a:solidFill>
                  <a:srgbClr val="555555"/>
                </a:solidFill>
                <a:latin typeface="Calibri"/>
              </a:rPr>
              <a:t>Every quote is matched into the file or dropped. Legal conclusions and advice words from the model are rejected by the server. File text, names and chat are treated as data, never as instructions.</a:t>
            </a:r>
          </a:p>
          <a:p>
            <a:pPr algn="l">
              <a:spcAft>
                <a:spcPts val="600"/>
              </a:spcAft>
            </a:pPr>
            <a:r>
              <a:rPr sz="1500" b="0">
                <a:solidFill>
                  <a:srgbClr val="555555"/>
                </a:solidFill>
                <a:latin typeface="Calibri"/>
              </a:rPr>
              <a:t>The person is told on every page: this tool does not give legal advice, you are responsible for what you file, check every rule on Singapore Statutes Online.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lgn="l">
              <a:spcAft>
                <a:spcPts val="600"/>
              </a:spcAft>
            </a:pPr>
            <a:r>
              <a:rPr sz="3400" b="1">
                <a:solidFill>
                  <a:srgbClr val="111111"/>
                </a:solidFill>
                <a:latin typeface="Calibri"/>
              </a:rPr>
              <a:t>What is real and what is stubbed</a:t>
            </a:r>
          </a:p>
        </p:txBody>
      </p:sp>
      <p:sp>
        <p:nvSpPr>
          <p:cNvPr id="3" name="Rectangle 2"/>
          <p:cNvSpPr/>
          <p:nvPr/>
        </p:nvSpPr>
        <p:spPr>
          <a:xfrm>
            <a:off x="548640" y="1097280"/>
            <a:ext cx="11094415"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4754880"/>
          </a:xfrm>
          <a:prstGeom prst="rect">
            <a:avLst/>
          </a:prstGeom>
          <a:noFill/>
        </p:spPr>
        <p:txBody>
          <a:bodyPr wrap="square">
            <a:spAutoFit/>
          </a:bodyPr>
          <a:lstStyle/>
          <a:p>
            <a:pPr algn="l">
              <a:spcAft>
                <a:spcPts val="1000"/>
              </a:spcAft>
            </a:pPr>
            <a:r>
              <a:rPr sz="1900" b="1">
                <a:solidFill>
                  <a:srgbClr val="15803D"/>
                </a:solidFill>
                <a:latin typeface="Calibri"/>
              </a:rPr>
              <a:t>Real</a:t>
            </a:r>
          </a:p>
          <a:p>
            <a:pPr algn="l">
              <a:spcAft>
                <a:spcPts val="1000"/>
              </a:spcAft>
            </a:pPr>
            <a:r>
              <a:rPr sz="1900" b="0">
                <a:solidFill>
                  <a:srgbClr val="111111"/>
                </a:solidFill>
                <a:latin typeface="Calibri"/>
              </a:rPr>
              <a:t>Chat intake, file reading (PDF, screenshots, photos, one video frame), quotes matched and highlighted, the gate, both rankings, gather list, timeline, fee, next steps, evidence sheet, request letter, claim pack. Live now on Railway.</a:t>
            </a:r>
          </a:p>
          <a:p>
            <a:pPr algn="l">
              <a:spcAft>
                <a:spcPts val="1000"/>
              </a:spcAft>
            </a:pPr>
            <a:r>
              <a:rPr sz="1900" b="1">
                <a:solidFill>
                  <a:srgbClr val="B91C1C"/>
                </a:solidFill>
                <a:latin typeface="Calibri"/>
              </a:rPr>
              <a:t>Stubbed</a:t>
            </a:r>
          </a:p>
          <a:p>
            <a:pPr algn="l">
              <a:spcAft>
                <a:spcPts val="1000"/>
              </a:spcAft>
            </a:pPr>
            <a:r>
              <a:rPr sz="1900" b="0">
                <a:solidFill>
                  <a:srgbClr val="111111"/>
                </a:solidFill>
                <a:latin typeface="Calibri"/>
              </a:rPr>
              <a:t>Filing on the court's portal (CJTS). There is no public API, so the claim pack is what you paste and upload yourself.</a:t>
            </a:r>
          </a:p>
          <a:p>
            <a:pPr algn="l">
              <a:spcAft>
                <a:spcPts val="1000"/>
              </a:spcAft>
            </a:pPr>
            <a:r>
              <a:rPr sz="1900" b="0">
                <a:solidFill>
                  <a:srgbClr val="111111"/>
                </a:solidFill>
                <a:latin typeface="Calibri"/>
              </a:rPr>
              <a:t>Statute text is only the sections the gate quotes, plus the court's guide. Not all of Singapore law.</a:t>
            </a:r>
          </a:p>
          <a:p>
            <a:pPr algn="l">
              <a:spcAft>
                <a:spcPts val="1000"/>
              </a:spcAft>
            </a:pPr>
            <a:r>
              <a:rPr sz="1900" b="1">
                <a:solidFill>
                  <a:srgbClr val="555555"/>
                </a:solidFill>
                <a:latin typeface="Calibri"/>
              </a:rPr>
              <a:t>Data</a:t>
            </a:r>
          </a:p>
          <a:p>
            <a:pPr algn="l">
              <a:spcAft>
                <a:spcPts val="1000"/>
              </a:spcAft>
            </a:pPr>
            <a:r>
              <a:rPr sz="1900" b="0">
                <a:solidFill>
                  <a:srgbClr val="111111"/>
                </a:solidFill>
                <a:latin typeface="Calibri"/>
              </a:rPr>
              <a:t>The demo files are made up by us. No real documents were used at any point.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lgn="l">
              <a:spcAft>
                <a:spcPts val="600"/>
              </a:spcAft>
            </a:pPr>
            <a:r>
              <a:rPr sz="3400" b="1">
                <a:solidFill>
                  <a:srgbClr val="111111"/>
                </a:solidFill>
                <a:latin typeface="Calibri"/>
              </a:rPr>
              <a:t>AI tools used (disclosure)</a:t>
            </a:r>
          </a:p>
        </p:txBody>
      </p:sp>
      <p:sp>
        <p:nvSpPr>
          <p:cNvPr id="3" name="Rectangle 2"/>
          <p:cNvSpPr/>
          <p:nvPr/>
        </p:nvSpPr>
        <p:spPr>
          <a:xfrm>
            <a:off x="548640" y="1097280"/>
            <a:ext cx="11094415"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4754880"/>
          </a:xfrm>
          <a:prstGeom prst="rect">
            <a:avLst/>
          </a:prstGeom>
          <a:noFill/>
        </p:spPr>
        <p:txBody>
          <a:bodyPr wrap="square">
            <a:spAutoFit/>
          </a:bodyPr>
          <a:lstStyle/>
          <a:p>
            <a:pPr algn="l">
              <a:spcAft>
                <a:spcPts val="1000"/>
              </a:spcAft>
            </a:pPr>
            <a:r>
              <a:rPr sz="1900" b="1">
                <a:solidFill>
                  <a:srgbClr val="111111"/>
                </a:solidFill>
                <a:latin typeface="Calibri"/>
              </a:rPr>
              <a:t>To build it</a:t>
            </a:r>
          </a:p>
          <a:p>
            <a:pPr algn="l">
              <a:spcAft>
                <a:spcPts val="1000"/>
              </a:spcAft>
            </a:pPr>
            <a:r>
              <a:rPr sz="1900" b="0">
                <a:solidFill>
                  <a:srgbClr val="111111"/>
                </a:solidFill>
                <a:latin typeface="Calibri"/>
              </a:rPr>
              <a:t>Claude Code (Anthropic), with Claude Opus and Fable models, for planning, code, browser testing and this deck.</a:t>
            </a:r>
          </a:p>
          <a:p>
            <a:pPr algn="l">
              <a:spcAft>
                <a:spcPts val="1000"/>
              </a:spcAft>
            </a:pPr>
            <a:r>
              <a:rPr sz="1900" b="0">
                <a:solidFill>
                  <a:srgbClr val="111111"/>
                </a:solidFill>
                <a:latin typeface="Calibri"/>
              </a:rPr>
              <a:t>OpenAI Codex, for a second opinion on each plan and a review of each change.</a:t>
            </a:r>
          </a:p>
          <a:p>
            <a:pPr algn="l">
              <a:spcAft>
                <a:spcPts val="1000"/>
              </a:spcAft>
            </a:pPr>
            <a:r>
              <a:rPr sz="1900" b="0">
                <a:solidFill>
                  <a:srgbClr val="111111"/>
                </a:solidFill>
                <a:latin typeface="Calibri"/>
              </a:rPr>
              <a:t>Playwright, driven by Claude Code, for end to end tests in a real browser.</a:t>
            </a:r>
          </a:p>
          <a:p>
            <a:pPr algn="l">
              <a:spcAft>
                <a:spcPts val="1000"/>
              </a:spcAft>
            </a:pPr>
            <a:r>
              <a:rPr sz="1900" b="1">
                <a:solidFill>
                  <a:srgbClr val="111111"/>
                </a:solidFill>
                <a:latin typeface="Calibri"/>
              </a:rPr>
              <a:t>Inside the product</a:t>
            </a:r>
          </a:p>
          <a:p>
            <a:pPr algn="l">
              <a:spcAft>
                <a:spcPts val="1000"/>
              </a:spcAft>
            </a:pPr>
            <a:r>
              <a:rPr sz="1900" b="0">
                <a:solidFill>
                  <a:srgbClr val="111111"/>
                </a:solidFill>
                <a:latin typeface="Calibri"/>
              </a:rPr>
              <a:t>Claude Sonnet 5 through OpenRouter (anthropic/claude-sonnet-5), with the hackathon credits.</a:t>
            </a:r>
          </a:p>
          <a:p>
            <a:pPr algn="l">
              <a:spcAft>
                <a:spcPts val="1000"/>
              </a:spcAft>
            </a:pPr>
            <a:r>
              <a:rPr sz="1900" b="1">
                <a:solidFill>
                  <a:srgbClr val="111111"/>
                </a:solidFill>
                <a:latin typeface="Calibri"/>
              </a:rPr>
              <a:t>Design decisions</a:t>
            </a:r>
          </a:p>
          <a:p>
            <a:pPr algn="l">
              <a:spcAft>
                <a:spcPts val="1000"/>
              </a:spcAft>
            </a:pPr>
            <a:r>
              <a:rPr sz="1900" b="0">
                <a:solidFill>
                  <a:srgbClr val="111111"/>
                </a:solidFill>
                <a:latin typeface="Calibri"/>
              </a:rPr>
              <a:t>Every design call was the team's, recorded in the plan file and the commit history in the repo. We can explain every 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lgn="l">
              <a:spcAft>
                <a:spcPts val="600"/>
              </a:spcAft>
            </a:pPr>
            <a:r>
              <a:rPr sz="3400" b="1">
                <a:solidFill>
                  <a:srgbClr val="111111"/>
                </a:solidFill>
                <a:latin typeface="Calibri"/>
              </a:rPr>
              <a:t>References</a:t>
            </a:r>
          </a:p>
        </p:txBody>
      </p:sp>
      <p:sp>
        <p:nvSpPr>
          <p:cNvPr id="3" name="Rectangle 2"/>
          <p:cNvSpPr/>
          <p:nvPr/>
        </p:nvSpPr>
        <p:spPr>
          <a:xfrm>
            <a:off x="548640" y="1097280"/>
            <a:ext cx="11094415"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4754880"/>
          </a:xfrm>
          <a:prstGeom prst="rect">
            <a:avLst/>
          </a:prstGeom>
          <a:noFill/>
        </p:spPr>
        <p:txBody>
          <a:bodyPr wrap="square">
            <a:spAutoFit/>
          </a:bodyPr>
          <a:lstStyle/>
          <a:p>
            <a:pPr algn="l">
              <a:spcAft>
                <a:spcPts val="1000"/>
              </a:spcAft>
            </a:pPr>
            <a:r>
              <a:rPr sz="1600" b="1">
                <a:solidFill>
                  <a:srgbClr val="111111"/>
                </a:solidFill>
                <a:latin typeface="Calibri"/>
              </a:rPr>
              <a:t>Law and court sources</a:t>
            </a:r>
          </a:p>
          <a:p>
            <a:pPr algn="l">
              <a:spcAft>
                <a:spcPts val="1000"/>
              </a:spcAft>
            </a:pPr>
            <a:r>
              <a:rPr sz="1600" b="0">
                <a:solidFill>
                  <a:srgbClr val="111111"/>
                </a:solidFill>
                <a:latin typeface="Calibri"/>
              </a:rPr>
              <a:t>Small Claims Tribunals Act 1984, s 2, s 5, s 23 and the Schedule. Singapore Statutes Online, sso.agc.gov.sg/Act/SCTA1984, read 5 Sep 2026.</a:t>
            </a:r>
          </a:p>
          <a:p>
            <a:pPr algn="l">
              <a:spcAft>
                <a:spcPts val="1000"/>
              </a:spcAft>
            </a:pPr>
            <a:r>
              <a:rPr sz="1600" b="0">
                <a:solidFill>
                  <a:srgbClr val="111111"/>
                </a:solidFill>
                <a:latin typeface="Calibri"/>
              </a:rPr>
              <a:t>State Courts, A Guide to Small Claims (PDF), judiciary.gov.sg. Fees, service, e-Negotiation, appeal.</a:t>
            </a:r>
          </a:p>
          <a:p>
            <a:pPr algn="l">
              <a:spcAft>
                <a:spcPts val="1000"/>
              </a:spcAft>
            </a:pPr>
            <a:r>
              <a:rPr sz="1600" b="0">
                <a:solidFill>
                  <a:srgbClr val="111111"/>
                </a:solidFill>
                <a:latin typeface="Calibri"/>
              </a:rPr>
              <a:t>Judiciary pages: File a small claim; How to file and serve a small claim. Community Justice and Tribunals System, cjts.judiciary.gov.sg.</a:t>
            </a:r>
          </a:p>
          <a:p>
            <a:pPr algn="l">
              <a:spcAft>
                <a:spcPts val="1000"/>
              </a:spcAft>
            </a:pPr>
            <a:r>
              <a:rPr sz="1600" b="0">
                <a:solidFill>
                  <a:srgbClr val="111111"/>
                </a:solidFill>
                <a:latin typeface="Calibri"/>
              </a:rPr>
              <a:t>Registrar's Circular No. 1 of 2024, Guide on the Use of Generative AI Tools by Court Users, in force 1 Oct 2024.</a:t>
            </a:r>
          </a:p>
          <a:p>
            <a:pPr algn="l">
              <a:spcAft>
                <a:spcPts val="1000"/>
              </a:spcAft>
            </a:pPr>
            <a:r>
              <a:rPr sz="1600" b="1">
                <a:solidFill>
                  <a:srgbClr val="111111"/>
                </a:solidFill>
                <a:latin typeface="Calibri"/>
              </a:rPr>
              <a:t>Libraries and tools</a:t>
            </a:r>
          </a:p>
          <a:p>
            <a:pPr algn="l">
              <a:spcAft>
                <a:spcPts val="1000"/>
              </a:spcAft>
            </a:pPr>
            <a:r>
              <a:rPr sz="1600" b="0">
                <a:solidFill>
                  <a:srgbClr val="111111"/>
                </a:solidFill>
                <a:latin typeface="Calibri"/>
              </a:rPr>
              <a:t>FastAPI, Uvicorn, python-multipart, httpx, Anthropic Python SDK, pdfplumber, PyMuPDF, Pillow, pillow-heif, pytesseract with Tesseract OCR, openpyxl, reportlab, ffmpeg, python-pptx.</a:t>
            </a:r>
          </a:p>
          <a:p>
            <a:pPr algn="l">
              <a:spcAft>
                <a:spcPts val="1000"/>
              </a:spcAft>
            </a:pPr>
            <a:r>
              <a:rPr sz="1600" b="1">
                <a:solidFill>
                  <a:srgbClr val="111111"/>
                </a:solidFill>
                <a:latin typeface="Calibri"/>
              </a:rPr>
              <a:t>Data</a:t>
            </a:r>
          </a:p>
          <a:p>
            <a:pPr algn="l">
              <a:spcAft>
                <a:spcPts val="1000"/>
              </a:spcAft>
            </a:pPr>
            <a:r>
              <a:rPr sz="1600" b="0">
                <a:solidFill>
                  <a:srgbClr val="111111"/>
                </a:solidFill>
                <a:latin typeface="Calibri"/>
              </a:rPr>
              <a:t>Synthetic sample pack made by the team (builds/case-builder/sample). No organiser or real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lgn="l">
              <a:spcAft>
                <a:spcPts val="600"/>
              </a:spcAft>
            </a:pPr>
            <a:r>
              <a:rPr sz="3400" b="1">
                <a:solidFill>
                  <a:srgbClr val="111111"/>
                </a:solidFill>
                <a:latin typeface="Calibri"/>
              </a:rPr>
              <a:t>What we would build next</a:t>
            </a:r>
          </a:p>
        </p:txBody>
      </p:sp>
      <p:sp>
        <p:nvSpPr>
          <p:cNvPr id="3" name="Rectangle 2"/>
          <p:cNvSpPr/>
          <p:nvPr/>
        </p:nvSpPr>
        <p:spPr>
          <a:xfrm>
            <a:off x="548640" y="1097280"/>
            <a:ext cx="11094415"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4754880"/>
          </a:xfrm>
          <a:prstGeom prst="rect">
            <a:avLst/>
          </a:prstGeom>
          <a:noFill/>
        </p:spPr>
        <p:txBody>
          <a:bodyPr wrap="square">
            <a:spAutoFit/>
          </a:bodyPr>
          <a:lstStyle/>
          <a:p>
            <a:pPr algn="l">
              <a:spcAft>
                <a:spcPts val="1000"/>
              </a:spcAft>
            </a:pPr>
            <a:r>
              <a:rPr sz="2200" b="0">
                <a:solidFill>
                  <a:srgbClr val="111111"/>
                </a:solidFill>
                <a:latin typeface="Calibri"/>
              </a:rPr>
              <a:t>Keep cases and files across restarts, so a person can come back a week later.</a:t>
            </a:r>
          </a:p>
          <a:p>
            <a:pPr algn="l">
              <a:spcAft>
                <a:spcPts val="1000"/>
              </a:spcAft>
            </a:pPr>
            <a:r>
              <a:rPr sz="2200" b="0">
                <a:solidFill>
                  <a:srgbClr val="111111"/>
                </a:solidFill>
                <a:latin typeface="Calibri"/>
              </a:rPr>
              <a:t>Own content sets for services and damage to property, then the other claim types in the Schedule.</a:t>
            </a:r>
          </a:p>
          <a:p>
            <a:pPr algn="l">
              <a:spcAft>
                <a:spcPts val="1000"/>
              </a:spcAft>
            </a:pPr>
            <a:r>
              <a:rPr sz="2200" b="0">
                <a:solidFill>
                  <a:srgbClr val="111111"/>
                </a:solidFill>
                <a:latin typeface="Calibri"/>
              </a:rPr>
              <a:t>Prepare the person for e-Negotiation on CJTS: the five rounds of offers.</a:t>
            </a:r>
          </a:p>
          <a:p>
            <a:pPr algn="l">
              <a:spcAft>
                <a:spcPts val="1000"/>
              </a:spcAft>
            </a:pPr>
            <a:r>
              <a:rPr sz="2200" b="0">
                <a:solidFill>
                  <a:srgbClr val="111111"/>
                </a:solidFill>
                <a:latin typeface="Calibri"/>
              </a:rPr>
              <a:t>Test it with Community Justice Centre volunteers on real, consented cases.</a:t>
            </a:r>
          </a:p>
          <a:p>
            <a:pPr algn="l">
              <a:spcAft>
                <a:spcPts val="1000"/>
              </a:spcAft>
            </a:pPr>
            <a:r>
              <a:rPr sz="2200" b="1">
                <a:solidFill>
                  <a:srgbClr val="15803D"/>
                </a:solidFill>
                <a:latin typeface="Calibri"/>
              </a:rPr>
              <a:t>Ask us anything. We built every part and can show the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